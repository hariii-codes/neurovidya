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0C2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2.5</c:v>
                </c:pt>
                <c:pt idx="2">
                  <c:v>8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2B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NeuroVidya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Dyslexia-First Learning Platform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931920" cy="0"/>
          </a:xfrm>
          <a:prstGeom prst="line">
            <a:avLst/>
          </a:prstGeom>
          <a:noFill/>
          <a:ln w="12700">
            <a:solidFill>
              <a:srgbClr val="1E3F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how dyslexic learners read — through research-backed design, AI coaching, and complete personalization.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173736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551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2920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2514600"/>
            <a:ext cx="173736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68880" y="2551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68880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Components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383280"/>
            <a:ext cx="173736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3419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0292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0" y="3383280"/>
            <a:ext cx="173736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468880" y="3419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KB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46888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446227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C2B5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 LIVE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0" y="365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 PROPOSITIONS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0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  •  Launched March 15, 2026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0" y="1097280"/>
            <a:ext cx="3840480" cy="65836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43584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50992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Research-Backed Design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50992" y="14447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Dyslexia Association guidelines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029200" y="1865376"/>
            <a:ext cx="3840480" cy="65836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1168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50992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Interactive Games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650992" y="2212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 with progress tracking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029200" y="2633472"/>
            <a:ext cx="3840480" cy="65836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779776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650992" y="2706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Reading Coach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650992" y="29809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 &amp; phonetic feedback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029200" y="3401568"/>
            <a:ext cx="3840480" cy="65836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547872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650992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Settings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5650992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personalization for every learner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5029200" y="4169664"/>
            <a:ext cx="3840480" cy="65836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4315968"/>
            <a:ext cx="34747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650992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5 People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5650992" y="45171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billion people have dyslexia globally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5029200" y="4663440"/>
            <a:ext cx="3840480" cy="347472"/>
          </a:xfrm>
          <a:prstGeom prst="rect">
            <a:avLst/>
          </a:prstGeom>
          <a:solidFill>
            <a:srgbClr val="009E93"/>
          </a:solidFill>
          <a:ln/>
        </p:spPr>
      </p:sp>
      <p:sp>
        <p:nvSpPr>
          <p:cNvPr id="46" name="Text 38"/>
          <p:cNvSpPr/>
          <p:nvPr/>
        </p:nvSpPr>
        <p:spPr>
          <a:xfrm>
            <a:off x="502920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Market Size: 1 in 5 people have dyslexia — ~1 Billion globally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learning platforms fail dyslexic users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Small, cramped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strain &amp; fatigue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39112"/>
            <a:ext cx="64008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0848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clutter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313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appear to 'jump around'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60904"/>
            <a:ext cx="64008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706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reading guidance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935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place while reading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82696"/>
            <a:ext cx="64008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557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match individual needs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04488"/>
            <a:ext cx="64008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accessibility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178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capable learners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4023360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617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dyslexics struggle with standard digital interfaces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1005840"/>
            <a:ext cx="0" cy="4023360"/>
          </a:xfrm>
          <a:prstGeom prst="line">
            <a:avLst/>
          </a:prstGeom>
          <a:noFill/>
          <a:ln w="19050">
            <a:solidFill>
              <a:srgbClr val="F0E9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417320"/>
            <a:ext cx="4114800" cy="758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417320"/>
            <a:ext cx="502920" cy="758952"/>
          </a:xfrm>
          <a:prstGeom prst="rect">
            <a:avLst/>
          </a:prstGeom>
          <a:solidFill>
            <a:srgbClr val="00C2B5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1581912"/>
            <a:ext cx="347472" cy="34747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349240" y="1490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Research-Backed Design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349240" y="1764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Dyslexia Association + W3C WAI standards + real-user testing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54880" y="2304288"/>
            <a:ext cx="4114800" cy="758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2304288"/>
            <a:ext cx="502920" cy="758952"/>
          </a:xfrm>
          <a:prstGeom prst="rect">
            <a:avLst/>
          </a:prstGeom>
          <a:solidFill>
            <a:srgbClr val="00C2B5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468880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349240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Customization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5349240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16–32px · 3 presets (Mild/Moderate/Significant) · 50+ granular settings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3191256"/>
            <a:ext cx="4114800" cy="758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754880" y="3191256"/>
            <a:ext cx="502920" cy="758952"/>
          </a:xfrm>
          <a:prstGeom prst="rect">
            <a:avLst/>
          </a:prstGeom>
          <a:solidFill>
            <a:srgbClr val="00C2B5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3355848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349240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Reading Aids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5349240" y="3538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guides, TTS, phonetic chunking, line focus &amp; word spacing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754880" y="4078224"/>
            <a:ext cx="4114800" cy="758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4754880" y="4078224"/>
            <a:ext cx="502920" cy="758952"/>
          </a:xfrm>
          <a:prstGeom prst="rect">
            <a:avLst/>
          </a:prstGeom>
          <a:solidFill>
            <a:srgbClr val="00C2B5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4242816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349240" y="4151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Coach</a:t>
            </a:r>
            <a:endParaRPr lang="en-US" sz="1250" dirty="0"/>
          </a:p>
        </p:txBody>
      </p:sp>
      <p:sp>
        <p:nvSpPr>
          <p:cNvPr id="49" name="Text 43"/>
          <p:cNvSpPr/>
          <p:nvPr/>
        </p:nvSpPr>
        <p:spPr>
          <a:xfrm>
            <a:off x="5349240" y="4425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 feedback · 100% browser-based · fully private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DYSLEXIA-FIRST DESIGN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 components built for every dyslexic learner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920240" cy="50292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BG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visual stress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2024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792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readability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1920240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Blue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792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&amp; highlights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78992"/>
            <a:ext cx="1920240" cy="50292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Accent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792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elements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103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39572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font: 22px (adjustable 16–32px)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height: 1.8 — reduces crowding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Fonts: OpenDyslexic, Arial, Comic Sans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spacing: 0–0.3em (adjustable)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239572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font: 22px (adjustable 16–32px)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height: 1.8 — reduces crowding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Fonts: OpenDyslexic, Arial, Comic Sans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spacing: 0–0.3em (adjustable)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AIDS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95728"/>
            <a:ext cx="4206240" cy="42976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41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Phonetic Chunking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62432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syllable-division with color 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898648"/>
            <a:ext cx="4206240" cy="42976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Guide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12724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current line, dims the rest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4206240" cy="42976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447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63016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TTS with word highlighting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904488"/>
            <a:ext cx="4206240" cy="42976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950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Focus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13308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1–3 line visibility window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407408"/>
            <a:ext cx="4206240" cy="42976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453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Spacing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63600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0–1em spacing between words</a:t>
            </a:r>
            <a:endParaRPr lang="en-US" sz="10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60520"/>
            <a:ext cx="384048" cy="38404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22960" y="41422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Accessible UI Components — DyslexiaButton · DyslexiaInput · DyslexiaCard · ReadingGuide · PhoneticHighlighter · QuickSettingsToolbar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09E93"/>
          </a:solidFill>
          <a:ln/>
        </p:spPr>
      </p:sp>
      <p:sp>
        <p:nvSpPr>
          <p:cNvPr id="40" name="Text 37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touch targets ≥ 60px  ·  Color contrast ≥ 7:1  ·  Full keyboard navigation  ·  Screen reader (ARIA) compatible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READING COACH &amp; INTERACTIVE GAMES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· 100% browser-based · completely private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READING COACH 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749808" cy="749808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reads aloud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15568" y="1746504"/>
            <a:ext cx="109728" cy="0"/>
          </a:xfrm>
          <a:prstGeom prst="line">
            <a:avLst/>
          </a:prstGeom>
          <a:noFill/>
          <a:ln w="19050">
            <a:solidFill>
              <a:srgbClr val="5A6B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1371600"/>
            <a:ext cx="749808" cy="749808"/>
          </a:xfrm>
          <a:prstGeom prst="rect">
            <a:avLst/>
          </a:prstGeom>
          <a:solidFill>
            <a:srgbClr val="009E93"/>
          </a:solidFill>
          <a:ln/>
        </p:spPr>
      </p:sp>
      <p:sp>
        <p:nvSpPr>
          <p:cNvPr id="12" name="Text 10"/>
          <p:cNvSpPr/>
          <p:nvPr/>
        </p:nvSpPr>
        <p:spPr>
          <a:xfrm>
            <a:off x="1225296" y="137160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API captures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75104" y="1746504"/>
            <a:ext cx="109728" cy="0"/>
          </a:xfrm>
          <a:prstGeom prst="line">
            <a:avLst/>
          </a:prstGeom>
          <a:noFill/>
          <a:ln w="19050">
            <a:solidFill>
              <a:srgbClr val="5A6B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371600"/>
            <a:ext cx="749808" cy="74980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37160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48256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analysis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34640" y="1746504"/>
            <a:ext cx="109728" cy="0"/>
          </a:xfrm>
          <a:prstGeom prst="line">
            <a:avLst/>
          </a:prstGeom>
          <a:noFill/>
          <a:ln w="19050">
            <a:solidFill>
              <a:srgbClr val="5A6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1371600"/>
            <a:ext cx="749808" cy="74980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0" name="Text 18"/>
          <p:cNvSpPr/>
          <p:nvPr/>
        </p:nvSpPr>
        <p:spPr>
          <a:xfrm>
            <a:off x="2944368" y="137160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07792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similarity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94176" y="1746504"/>
            <a:ext cx="109728" cy="0"/>
          </a:xfrm>
          <a:prstGeom prst="line">
            <a:avLst/>
          </a:prstGeom>
          <a:noFill/>
          <a:ln w="19050">
            <a:solidFill>
              <a:srgbClr val="5A6B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3904" y="1371600"/>
            <a:ext cx="749808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3803904" y="137160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67328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feedback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2761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035808"/>
            <a:ext cx="914400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(100%)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444752" y="3035808"/>
            <a:ext cx="91440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1444752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(70-99%)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23744" y="3035808"/>
            <a:ext cx="91440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2523744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trying (40-69%)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02736" y="3035808"/>
            <a:ext cx="91440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3602736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again (&lt;40%)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LEARNING GAMES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37160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140817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🅰️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230368" y="1444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Letter Recognition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discrimination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0" y="137160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0" y="140817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333488" y="1444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 Builder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33488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Phonological awareness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224028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227685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30368" y="2313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Sentence Builder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569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construction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58000" y="224028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58000" y="227685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333488" y="2313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Word-Image Match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33488" y="2569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visual memory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310896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0" y="314553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230368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Illustrated Stories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fluency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58000" y="3108960"/>
            <a:ext cx="192024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58000" y="314553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333488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Explainer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33488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understanding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806440" y="3977640"/>
            <a:ext cx="2103120" cy="71323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806440" y="401421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🕶️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281928" y="4050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Game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81928" y="4306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Kinesthetic &amp; spatial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 &amp; VISUAL LEARNING TOOLS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companion · Text simplification · Visual memory aids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CAPABILITIES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114800" cy="548640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53312"/>
            <a:ext cx="64008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Simplification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complex passages for easier reading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4114800" cy="548640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002536"/>
            <a:ext cx="64008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57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Comprehension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2295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about any 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114800" cy="548640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651760"/>
            <a:ext cx="64008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Explanations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2944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phonetics &amp; examples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4114800" cy="548640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300984"/>
            <a:ext cx="64008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355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Spelling Help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3593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spelling assistance &amp; patterns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4114800" cy="548640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950208"/>
            <a:ext cx="64008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005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Tips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0352" y="4242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strategy recommendations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36008"/>
            <a:ext cx="4114800" cy="320040"/>
          </a:xfrm>
          <a:prstGeom prst="rect">
            <a:avLst/>
          </a:prstGeom>
          <a:solidFill>
            <a:srgbClr val="009E93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636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Providers: OpenAI GPT-4  ·  Anthropic Claude  ·  GLM-4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LEARNING 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353312"/>
            <a:ext cx="4114800" cy="105156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463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44068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Image Generation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1737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for visual memory aids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vocabulary cards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Providers: DALL-E, Stable Diffusion, GLM-4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523744"/>
            <a:ext cx="4114800" cy="105156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63347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440680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Summarizer — Comic Format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9077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any text into visual comic panels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scene illustrations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 or shareable link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694176"/>
            <a:ext cx="4114800" cy="105156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38039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44068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Diagrams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407822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maps · Flow charts · Venn diagrams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visualizations for processes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PLATFORM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PostgreSQL — 17 fully built pages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1005840" cy="548640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898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1536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18.2  ·  Vite 5.0  ·  TypeScript 5.3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938528"/>
            <a:ext cx="0" cy="109728"/>
          </a:xfrm>
          <a:prstGeom prst="line">
            <a:avLst/>
          </a:prstGeom>
          <a:noFill/>
          <a:ln w="12700">
            <a:solidFill>
              <a:srgbClr val="5A6B8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0574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57400"/>
            <a:ext cx="1005840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57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22037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4.4  ·  TanStack Query 5.90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2606040"/>
            <a:ext cx="0" cy="109728"/>
          </a:xfrm>
          <a:prstGeom prst="line">
            <a:avLst/>
          </a:prstGeom>
          <a:noFill/>
          <a:ln w="12700">
            <a:solidFill>
              <a:srgbClr val="5A6B8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272491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24912"/>
            <a:ext cx="1005840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249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8712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0.104  ·  Uvicorn 0.24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73552"/>
            <a:ext cx="0" cy="109728"/>
          </a:xfrm>
          <a:prstGeom prst="line">
            <a:avLst/>
          </a:prstGeom>
          <a:noFill/>
          <a:ln w="12700">
            <a:solidFill>
              <a:srgbClr val="5A6B8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" y="339242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92424"/>
            <a:ext cx="100584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3924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3538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/  SQLite 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3941064"/>
            <a:ext cx="0" cy="109728"/>
          </a:xfrm>
          <a:prstGeom prst="line">
            <a:avLst/>
          </a:prstGeom>
          <a:noFill/>
          <a:ln w="12700">
            <a:solidFill>
              <a:srgbClr val="5A6B8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65760" y="405993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59936"/>
            <a:ext cx="100584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0599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81328" y="4206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 ·  Anthropic Claude  ·  GLM-4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COMPLETE PAGES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389888"/>
            <a:ext cx="41148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14356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Authentication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1655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· Login · Register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002536"/>
            <a:ext cx="4114800" cy="52120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Core Learning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2267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Reading Workspace · Reading Coach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615184"/>
            <a:ext cx="41148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26609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Interactive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46320" y="2880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Game types · AR Game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227832"/>
            <a:ext cx="4114800" cy="52120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273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Tools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46320" y="3493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· Visual Learning · AI Image · Story Summarizer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40480"/>
            <a:ext cx="41148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8862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Analysis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846320" y="4105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Analysis · Spelling Patterns · Progress Dashboard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453128"/>
            <a:ext cx="4114800" cy="52120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4988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Settings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46320" y="4718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customization panel (50+ settings)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PERFORMANCE, ACCESSIBILITY &amp;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 ·  Zero TypeScript errors  ·  109 tests passing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920240" cy="118872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19202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78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KB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 (gzipped)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250 KB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1920240" cy="118872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87552"/>
            <a:ext cx="19202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78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6888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Load (3G)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3s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987552"/>
            <a:ext cx="1920240" cy="118872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987552"/>
            <a:ext cx="19202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078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Performance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90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987552"/>
            <a:ext cx="1920240" cy="118872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987552"/>
            <a:ext cx="19202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078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67512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Accessibility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0" y="1975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COMPLIANCE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70048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3232" y="2633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Contrast: All text ≥ 7:1 ratio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27248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3232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Targets: All buttons ≥ 60px</a:t>
            </a:r>
            <a:endParaRPr lang="en-US" sz="12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84448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3232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Navigation: Full access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4164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232" y="4005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Reader: ARIA compatible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49884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" y="4462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Resize: 200% zoom support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754880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CODE QUALITY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754880" y="2633472"/>
            <a:ext cx="1920240" cy="80467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4754880" y="26700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</a:t>
            </a:r>
            <a:endParaRPr lang="en-US" sz="2800" dirty="0"/>
          </a:p>
        </p:txBody>
      </p:sp>
      <p:sp>
        <p:nvSpPr>
          <p:cNvPr id="40" name="Text 33"/>
          <p:cNvSpPr/>
          <p:nvPr/>
        </p:nvSpPr>
        <p:spPr>
          <a:xfrm>
            <a:off x="475488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6812280" y="2633472"/>
            <a:ext cx="1920240" cy="80467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6812280" y="26700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2800" dirty="0"/>
          </a:p>
        </p:txBody>
      </p:sp>
      <p:sp>
        <p:nvSpPr>
          <p:cNvPr id="43" name="Text 36"/>
          <p:cNvSpPr/>
          <p:nvPr/>
        </p:nvSpPr>
        <p:spPr>
          <a:xfrm>
            <a:off x="681228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754880" y="3639312"/>
            <a:ext cx="1920240" cy="80467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4754880" y="3675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46" name="Text 39"/>
          <p:cNvSpPr/>
          <p:nvPr/>
        </p:nvSpPr>
        <p:spPr>
          <a:xfrm>
            <a:off x="475488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812280" y="3639312"/>
            <a:ext cx="1920240" cy="804672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6812280" y="3675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49" name="Text 42"/>
          <p:cNvSpPr/>
          <p:nvPr/>
        </p:nvSpPr>
        <p:spPr>
          <a:xfrm>
            <a:off x="681228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Engines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475488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90+  ·  Firefox 88+  ·  Safari 14+  ·  Edge 90+  ·  TypeScript strict mode  ·  ESLint + Prettier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MONETIZATION &amp; MARKET OPPORTUNITY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Target: $25M ARR  ·  Only dyslexia-FIRST platform on the market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15727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53312"/>
            <a:ext cx="1572768" cy="384048"/>
          </a:xfrm>
          <a:prstGeom prst="rect">
            <a:avLst/>
          </a:prstGeom>
          <a:solidFill>
            <a:srgbClr val="5A6B8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53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73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2984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237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tools · 3 games · Limited 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57400" y="1353312"/>
            <a:ext cx="15727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353312"/>
            <a:ext cx="1572768" cy="384048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353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1773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$9.99/mo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5740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94560" y="2468880"/>
            <a:ext cx="12984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25237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· Unlimited progress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1353312"/>
            <a:ext cx="15727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353312"/>
            <a:ext cx="1572768" cy="38404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353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73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$19.99/mo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4904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86200" y="2468880"/>
            <a:ext cx="12984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5237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users · Family 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1353312"/>
            <a:ext cx="15727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1353312"/>
            <a:ext cx="1572768" cy="38404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1353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CLASSROOM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1773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$99/mo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2468880"/>
            <a:ext cx="12984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5237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students · Teacher tools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32320" y="1353312"/>
            <a:ext cx="15727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0" y="1353312"/>
            <a:ext cx="1572768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1353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17739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3232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2468880"/>
            <a:ext cx="12984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25237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SSO · LMS integration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0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365760" y="3520440"/>
          <a:ext cx="457200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Text 41"/>
          <p:cNvSpPr/>
          <p:nvPr/>
        </p:nvSpPr>
        <p:spPr>
          <a:xfrm>
            <a:off x="521208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212080" y="3520440"/>
            <a:ext cx="3657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212080" y="3520440"/>
            <a:ext cx="64008" cy="402336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47" name="Text 44"/>
          <p:cNvSpPr/>
          <p:nvPr/>
        </p:nvSpPr>
        <p:spPr>
          <a:xfrm>
            <a:off x="5349240" y="3547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Families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34924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households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882128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$100M+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5212080" y="3995928"/>
            <a:ext cx="3657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212080" y="3995928"/>
            <a:ext cx="64008" cy="40233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2" name="Text 49"/>
          <p:cNvSpPr/>
          <p:nvPr/>
        </p:nvSpPr>
        <p:spPr>
          <a:xfrm>
            <a:off x="53492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Schools &amp; Districts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349240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schools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882128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$50M+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5212080" y="4471416"/>
            <a:ext cx="3657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212080" y="4471416"/>
            <a:ext cx="64008" cy="40233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7" name="Text 54"/>
          <p:cNvSpPr/>
          <p:nvPr/>
        </p:nvSpPr>
        <p:spPr>
          <a:xfrm>
            <a:off x="5349240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Tutoring Centers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349240" y="4681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centers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7882128" y="4535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$6M+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 &amp; GO-TO-MARKET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learning platform designed entirely for dyslexic minds"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572000" cy="74980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71600"/>
            <a:ext cx="64008" cy="7498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Foundation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1481328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813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design system · Core accessibility components · Reading aids (TTS, guides, chunking)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4572000" cy="74980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249424"/>
            <a:ext cx="64008" cy="7498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Core Features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2359152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3591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5968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Coach with speech recognition · 7 interactive games · AI Assistant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4572000" cy="74980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127248"/>
            <a:ext cx="64008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Enhancement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0" y="3236976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369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 · Offline mode · Spanish &amp; French support · Parent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4572000" cy="74980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005072"/>
            <a:ext cx="64008" cy="749808"/>
          </a:xfrm>
          <a:prstGeom prst="rect">
            <a:avLst/>
          </a:prstGeom>
          <a:solidFill>
            <a:srgbClr val="B0C4DE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Advanced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74720" y="4114800"/>
            <a:ext cx="1353312" cy="256032"/>
          </a:xfrm>
          <a:prstGeom prst="roundRect">
            <a:avLst>
              <a:gd name="adj" fmla="val 21429"/>
            </a:avLst>
          </a:prstGeom>
          <a:solidFill>
            <a:srgbClr val="B0C4DE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11480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" y="4352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reading · Video lessons · ML recommendations · LMS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CHANNELS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1371600"/>
            <a:ext cx="3657600" cy="56692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33" name="Text 31"/>
          <p:cNvSpPr/>
          <p:nvPr/>
        </p:nvSpPr>
        <p:spPr>
          <a:xfrm>
            <a:off x="5248656" y="14081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33872" y="1426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33872" y="1673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TikTok · YouTube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2039112"/>
            <a:ext cx="3657600" cy="56692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37" name="Text 35"/>
          <p:cNvSpPr/>
          <p:nvPr/>
        </p:nvSpPr>
        <p:spPr>
          <a:xfrm>
            <a:off x="5248656" y="20756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833872" y="2093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 Conferences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33872" y="2340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 · EDUCAUSE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12080" y="2706624"/>
            <a:ext cx="3657600" cy="56692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41" name="Text 39"/>
          <p:cNvSpPr/>
          <p:nvPr/>
        </p:nvSpPr>
        <p:spPr>
          <a:xfrm>
            <a:off x="5248656" y="2743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833872" y="27614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33872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advocacy partnerships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3374136"/>
            <a:ext cx="3657600" cy="56692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45" name="Text 43"/>
          <p:cNvSpPr/>
          <p:nvPr/>
        </p:nvSpPr>
        <p:spPr>
          <a:xfrm>
            <a:off x="5248656" y="34107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833872" y="3429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+ Content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33872" y="3675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&amp; blogging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4041648"/>
            <a:ext cx="3657600" cy="566928"/>
          </a:xfrm>
          <a:prstGeom prst="rect">
            <a:avLst/>
          </a:prstGeom>
          <a:solidFill>
            <a:srgbClr val="1E3F75"/>
          </a:solidFill>
          <a:ln/>
        </p:spPr>
      </p:sp>
      <p:sp>
        <p:nvSpPr>
          <p:cNvPr id="49" name="Text 47"/>
          <p:cNvSpPr/>
          <p:nvPr/>
        </p:nvSpPr>
        <p:spPr>
          <a:xfrm>
            <a:off x="5248656" y="4078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833872" y="40965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Sales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833872" y="4343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programs for schools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0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TIMELINE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681728"/>
            <a:ext cx="4572000" cy="347472"/>
          </a:xfrm>
          <a:prstGeom prst="rect">
            <a:avLst/>
          </a:prstGeom>
          <a:solidFill>
            <a:srgbClr val="009E93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681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Launched March 15, 2026  ·  Pre-launch beta · soft launch · full PR campaign ongoing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&amp; CALL TO 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targets · $2M Seed Round · Join us in making reading accessible for everyone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87552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987552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87552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874520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874520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" y="2368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Target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874520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0" y="2368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874520"/>
            <a:ext cx="2606040" cy="749808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874520"/>
            <a:ext cx="2606040" cy="54864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35040" y="23682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Accuracy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2606040" cy="566928"/>
          </a:xfrm>
          <a:prstGeom prst="rect">
            <a:avLst/>
          </a:prstGeom>
          <a:solidFill>
            <a:srgbClr val="09324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+ 2 Grade Levels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5760" y="31729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Improvement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834640"/>
            <a:ext cx="2606040" cy="566928"/>
          </a:xfrm>
          <a:prstGeom prst="rect">
            <a:avLst/>
          </a:prstGeom>
          <a:solidFill>
            <a:srgbClr val="09324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+ 40%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00400" y="31729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2834640"/>
            <a:ext cx="2606040" cy="566928"/>
          </a:xfrm>
          <a:prstGeom prst="rect">
            <a:avLst/>
          </a:prstGeom>
          <a:solidFill>
            <a:srgbClr val="09324A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035040" y="31729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Satisfaction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3566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58768"/>
            <a:ext cx="2606040" cy="109728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858768"/>
            <a:ext cx="260604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858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INVESTORS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24281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 Seed Round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41655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$500K ARR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59028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$8M ARR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7640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investors@neurovidya.com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0" y="3858768"/>
            <a:ext cx="2606040" cy="109728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0" y="3858768"/>
            <a:ext cx="2606040" cy="34747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0" y="3858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SCHOOLS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291840" y="424281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Free Pilot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91840" y="441655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students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91840" y="459028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dev. included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91840" y="47640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schools@neurovidya.com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35040" y="3858768"/>
            <a:ext cx="2606040" cy="1097280"/>
          </a:xfrm>
          <a:prstGeom prst="rect">
            <a:avLst/>
          </a:prstGeom>
          <a:solidFill>
            <a:srgbClr val="1E3F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35040" y="3858768"/>
            <a:ext cx="2606040" cy="34747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56" name="Text 54"/>
          <p:cNvSpPr/>
          <p:nvPr/>
        </p:nvSpPr>
        <p:spPr>
          <a:xfrm>
            <a:off x="6035040" y="3858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👨‍👩‍👧 FAMILIES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26480" y="424281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14-Day Trial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6480" y="441655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26480" y="459028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26480" y="47640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neurovidya.com/signup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C2B5"/>
          </a:solidFill>
          <a:ln/>
        </p:spPr>
      </p:sp>
      <p:sp>
        <p:nvSpPr>
          <p:cNvPr id="62" name="Text 60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hello@neurovidya.com  ·  neurovidya.com  ·  @neurovidya_app  ·  NeuroVidya: Empowering Dyslexic Minds to Read with Confidence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2026-03-24T09:48:17Z</dcterms:created>
  <dcterms:modified xsi:type="dcterms:W3CDTF">2026-03-24T09:48:17Z</dcterms:modified>
</cp:coreProperties>
</file>