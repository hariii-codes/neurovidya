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NEUROVIDYA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 Dyslexia-First Adaptive Learning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BBF24"/>
                </a:solidFill>
              </a:defRPr>
            </a:pPr>
            <a:r>
              <a:t>"Transforming Learning Through Accessibility-First Design"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Team Members: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Project Lead &amp; Frontend Developer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Backend Developer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UI/UX Designer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Research &amp; Documentation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5836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Department of Computer Science &amp; Engineering | Academic Year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Introduction to NeuroVidya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✦ What is NeuroVidya?</a:t>
            </a:r>
          </a:p>
          <a:p>
            <a:r>
              <a:t>• Comprehensive web-based adaptive learning platform for dyslexia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• Dyslexia-first design — not retrofit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✦ Why It Matters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• Dyslexia affects 10-20% of the global population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• Traditional platforms designed for neurotypical users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• Accessibility features often added as afterthoughts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78638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✦ Core Philosophy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• Accessibility from the ground up, not as an add-on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• Research-backed design principles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• Empowering users through extensive customization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• Privacy-first approach with browser-native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943600"/>
            <a:ext cx="7863840" cy="73152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D3748"/>
                </a:solidFill>
              </a:defRPr>
            </a:pPr>
            <a:r>
              <a:t>Impact: Democratizing access to quality education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7863840" cy="91440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Educational platforms are designed for the neurotypical majority,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leaving 10-20% of the population with dyslexia struggling.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3749039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❌ Visual Processing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• Visual crowding &amp; pattern interference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• Difficulty with left-to-right scanning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• Eye strain from poor typography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560320"/>
            <a:ext cx="3749039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❌ Phonological Processing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• Difficulty breaking words into sounds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• Challenges with sound-symbol correspondence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• Poor spelling and decoding 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Existing Platform Issues: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• Accessibility as add-on • Limited customization • Expensive • No pronunciation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8368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B82F6"/>
                </a:solidFill>
              </a:defRPr>
            </a:pPr>
            <a:r>
              <a:t>Research: How can a platform optimize reading comprehension specifically for dyslexic learners?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Literature Review &amp; Research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B82F6"/>
                </a:solidFill>
              </a:defRPr>
            </a:pPr>
            <a:r>
              <a:t>Theoretical Frameworks</a:t>
            </a:r>
          </a:p>
          <a:p>
            <a:pPr>
              <a:spcBef>
                <a:spcPts val="400"/>
              </a:spcBef>
              <a:defRPr sz="1800">
                <a:solidFill>
                  <a:srgbClr val="2D3748"/>
                </a:solidFill>
              </a:defRPr>
            </a:pPr>
            <a:r>
              <a:t>• Dual Coding Theory: Paivio, 1971 — Visual + verbal channels enhance learning</a:t>
            </a:r>
          </a:p>
          <a:p>
            <a:pPr>
              <a:spcBef>
                <a:spcPts val="400"/>
              </a:spcBef>
              <a:defRPr sz="1800">
                <a:solidFill>
                  <a:srgbClr val="2D3748"/>
                </a:solidFill>
              </a:defRPr>
            </a:pPr>
            <a:r>
              <a:t>• Cognitive Load Theory: Sweller, 1988 — Managing visual overwhelm through line focus</a:t>
            </a:r>
          </a:p>
          <a:p>
            <a:pPr>
              <a:spcBef>
                <a:spcPts val="400"/>
              </a:spcBef>
              <a:defRPr sz="1800">
                <a:solidFill>
                  <a:srgbClr val="2D3748"/>
                </a:solidFill>
              </a:defRPr>
            </a:pPr>
            <a:r>
              <a:t>• Phonological Deficit: Multi-sensory reading support addresses core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t>Existing Solutions vs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Microsoft Immersive Reader | ✓ Good TTS | ✗ Limited customization, requires Office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Learning Ally | ✓ Extensive library | ✗ Primarily audio, lacks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Google Read &amp; Write | ✓ Browser convenience | ✗ Extension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Kurzweil 3000 | ✓ Established platform | ✗ Expensive, dated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6217920"/>
            <a:ext cx="7863840" cy="73152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Research Gap: No comprehensive, open-source, dyslexia-first platform with AI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🎯 Dyslexia-First Design System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Comprehensive component library with research-backed 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🎯 Advanced Phonetic Support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Syllable chunking, AI phonetic breakdown, real-time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🎯 Multi-Modal Learning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TTS, visual diagrams, interactive games, progress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🎯 Accessibility &amp; Usability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100% keyboard navigation, WCAG AA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C55E"/>
                </a:solidFill>
              </a:defRPr>
            </a:pPr>
            <a:r>
              <a:t>Success Metrics Achieved: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WCAG 2.1 AA Compliance</a:t>
            </a:r>
          </a:p>
          <a:p>
            <a:pPr algn="ctr">
              <a:defRPr sz="1800">
                <a:solidFill>
                  <a:srgbClr val="22C55E"/>
                </a:solidFill>
              </a:defRPr>
            </a:pPr>
            <a:r>
              <a:t>✅ 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61264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Test Coverage</a:t>
            </a:r>
          </a:p>
          <a:p>
            <a:pPr algn="ctr">
              <a:defRPr sz="1800">
                <a:solidFill>
                  <a:srgbClr val="22C55E"/>
                </a:solidFill>
              </a:defRPr>
            </a:pPr>
            <a:r>
              <a:t>✅ 79%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1264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Page Load Time</a:t>
            </a:r>
          </a:p>
          <a:p>
            <a:pPr algn="ctr">
              <a:defRPr sz="1800">
                <a:solidFill>
                  <a:srgbClr val="22C55E"/>
                </a:solidFill>
              </a:defRPr>
            </a:pPr>
            <a:r>
              <a:t>✅ 2.8s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612648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748"/>
                </a:solidFill>
              </a:defRPr>
            </a:pPr>
            <a:r>
              <a:t>Design Components</a:t>
            </a:r>
          </a:p>
          <a:p>
            <a:pPr algn="ctr">
              <a:defRPr sz="1800">
                <a:solidFill>
                  <a:srgbClr val="22C55E"/>
                </a:solidFill>
              </a:defRPr>
            </a:pPr>
            <a:r>
              <a:t>✅ 20+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Methodology &amp; Software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</a:defRPr>
            </a:pPr>
            <a:r>
              <a:t>Agile Development with 2-Week Sprints | Component-First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Weeks 1-2</a:t>
            </a:r>
          </a:p>
          <a:p>
            <a:r>
              <a:t>Research &amp; Planning</a:t>
            </a:r>
          </a:p>
          <a:p>
            <a:pPr>
              <a:defRPr sz="1800"/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10312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Weeks 3-4</a:t>
            </a:r>
          </a:p>
          <a:p>
            <a:r>
              <a:t>Design System Foundation</a:t>
            </a:r>
          </a:p>
          <a:p>
            <a:pPr>
              <a:defRPr sz="1800"/>
            </a:pPr>
            <a:r>
              <a:t>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10312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Weeks 5-7</a:t>
            </a:r>
          </a:p>
          <a:p>
            <a:r>
              <a:t>Advanced Features</a:t>
            </a:r>
          </a:p>
          <a:p>
            <a:pPr>
              <a:defRPr sz="1800"/>
            </a:pPr>
            <a: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0312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Weeks 8-10</a:t>
            </a:r>
          </a:p>
          <a:p>
            <a:r>
              <a:t>Page Development</a:t>
            </a:r>
          </a:p>
          <a:p>
            <a:pPr>
              <a:defRPr sz="1800"/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Weeks 11-12</a:t>
            </a:r>
          </a:p>
          <a:p>
            <a:r>
              <a:t>Backend Integration</a:t>
            </a:r>
          </a:p>
          <a:p>
            <a:pPr>
              <a:defRPr sz="1800"/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20040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Weeks 13-14</a:t>
            </a:r>
          </a:p>
          <a:p>
            <a:r>
              <a:t>Testing &amp; QA</a:t>
            </a:r>
          </a:p>
          <a:p>
            <a:pPr>
              <a:defRPr sz="1800"/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00400"/>
            <a:ext cx="1920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Weeks 15-16</a:t>
            </a:r>
          </a:p>
          <a:p>
            <a:r>
              <a:t>User Validation</a:t>
            </a:r>
          </a:p>
          <a:p>
            <a:pPr>
              <a:defRPr sz="1800"/>
            </a:pPr>
            <a:r>
              <a:t>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374903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Frontend Stack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React 18.2 | TypeScript 5.3 | Vite 5.0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Zustand | TanStack Query | Tesseract.js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4754880"/>
            <a:ext cx="3749039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Backend Stack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FastAPI | PostgreSQL | Python 3.9+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OpenAI GPT-4o-mini | Anthropic 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093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D3748"/>
                </a:solidFill>
              </a:defRPr>
            </a:pPr>
            <a:r>
              <a:t>Platform Support: Windows ✅ | macOS ✅ | Linux ✅ | Android 🔄 | iOS 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Implementation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7863840" cy="1645920"/>
          </a:xfrm>
          <a:prstGeom prst="roundRect">
            <a:avLst/>
          </a:prstGeom>
          <a:solidFill>
            <a:srgbClr val="EDF2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3B82F6"/>
                </a:solidFill>
              </a:defRPr>
            </a:pPr>
            <a:r>
              <a:t>SYSTEM ARCHITECTURE</a:t>
            </a:r>
          </a:p>
          <a:p>
            <a:br/>
            <a:pPr algn="ctr">
              <a:defRPr sz="1400">
                <a:solidFill>
                  <a:srgbClr val="2D374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┌─────────────────────────────────────────┐</a:t>
            </a:r>
            <a:br/>
            <a:r>
              <a:t>│  CLIENT LAYER (React + Web Speech API)  │</a:t>
            </a:r>
            <a:br/>
            <a:r>
              <a:t>└─────────────────────────────────────────┘</a:t>
            </a:r>
            <a:br/>
            <a:r>
              <a:t>                    ↕ REST API</a:t>
            </a:r>
            <a:br/>
            <a:r>
              <a:t>┌─────────────────────────────────────────┐</a:t>
            </a:r>
            <a:br/>
            <a:r>
              <a:t>│         API GATEWAY (FastAPI)           │</a:t>
            </a:r>
            <a:br/>
            <a:r>
              <a:t>└─────────────────────────────────────────┘</a:t>
            </a:r>
            <a:br/>
            <a:r>
              <a:t>                    ↕</a:t>
            </a:r>
            <a:br/>
            <a:r>
              <a:t>┌─────────────────────────────────────────┐</a:t>
            </a:r>
            <a:br/>
            <a:r>
              <a:t>│      DATA LAYER (PostgreSQL + Mongo)    │</a:t>
            </a:r>
            <a:br/>
            <a:r>
              <a:t>└─────────────────────────────────────────┘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t>Key Components Implemented (20+)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• DyslexiaProvider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38404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• DyslexiaTheme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38404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• DyslexiaButton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8404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• ReadingGuide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• PhoneticHighlighter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2976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• PronunciationAnalyzer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2976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• QuickSettingsToolbar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29768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• + 13 more specialized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t>Key Algorithms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Phonetic Chunking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Hybrid: Syllable rules + AI enhancement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5577840"/>
            <a:ext cx="374903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Pronunciation Analysis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Browser-native speech recognition + Levenshtein 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6492240"/>
            <a:ext cx="7863840" cy="5486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Performance: 92 Lighthouse Score | 100 Accessibility | 2.8s Load Time | 79% Test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3B82F6"/>
                </a:solidFill>
              </a:defRPr>
            </a:pPr>
            <a:r>
              <a:t>Application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Current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🎓 K-12 Schools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Special education, IEPs, resource rooms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92024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🎓 Higher Education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Disability services, test accommodations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💼 Workplace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Employee training, ADA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560320"/>
            <a:ext cx="3840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👤 Individuals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Self-directed learning, skill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B5CF6"/>
                </a:solidFill>
              </a:defRPr>
            </a:pPr>
            <a: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37490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🔜 Short-term (6-12 months)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Mobile apps (iOS/Android)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Offline mode support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Advanced analytics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Multi-language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206240"/>
            <a:ext cx="37490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🚀 Long-term (1-3 years)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Research platform integration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AI learning paths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LMS integrations</a:t>
            </a:r>
          </a:p>
          <a:p>
            <a:pPr>
              <a:defRPr sz="1600">
                <a:solidFill>
                  <a:srgbClr val="2D3748"/>
                </a:solidFill>
              </a:defRPr>
            </a:pPr>
            <a:r>
              <a:t>• Publishing partnerships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577840"/>
            <a:ext cx="7863840" cy="7315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Global Impact Potential: 700+ million people with dyslexia worldwide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D3748"/>
                </a:solidFill>
              </a:defRPr>
            </a:pPr>
            <a:r>
              <a:t>Deployment: Vercel ✅ | Netlify ✅ | AWS ✅ | Docker Self-Hosted 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B82F6"/>
                </a:solidFill>
              </a:defRPr>
            </a:pPr>
            <a:r>
              <a:t>Conclusion &amp; Future Directions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7863840" cy="640080"/>
          </a:xfrm>
          <a:prstGeom prst="round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From Accessibility-as-Accommodation to Accessibility-as-Foundation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🎯 Technical Excellence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79% test coverage | WCAG 2.1 AA compliance | Production-ready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🎯 Pedagogical Innovation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Research-backed design | Multi-modal learning | Real-time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🎯 User Empowerment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Extensive customization | Privacy-first | Open-source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8B5CF6"/>
                </a:solidFill>
              </a:defRPr>
            </a:pPr>
            <a:r>
              <a:t>Research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• First comprehensive dyslexia-first design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4864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• Hybrid phonetic chunking 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• Browser-native pronunciation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943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• Open-source accessibility template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6492240"/>
            <a:ext cx="7863840" cy="54864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D3748"/>
                </a:solidFill>
              </a:defRPr>
            </a:pPr>
            <a:r>
              <a:t>Join us in making education accessible to all | www.neurovidya.com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BBF24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38912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📧 support@neurovidya.com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🌐 www.neurovidya.com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💻 github.com/neurovidya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📖 docs.neurovidya.com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🐦 @NeuroVidyaApp | 💬 Discord Community | 📝 blog.neurovidya.com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858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FFFFFF"/>
                </a:solidFill>
              </a:defRPr>
            </a:pPr>
            <a:r>
              <a:t>Special thanks to our mentors, the dyslexia community, and open-source contributors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